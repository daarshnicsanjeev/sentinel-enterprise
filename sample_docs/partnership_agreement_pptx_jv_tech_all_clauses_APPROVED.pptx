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l">
              <a:defRPr b="1" sz="2200">
                <a:solidFill>
                  <a:srgbClr val="FFFFFF"/>
                </a:solidFill>
              </a:defRPr>
            </a:pPr>
            <a:r>
              <a:t>JOINT VENTURE PARTNERSHIP AGREEMENT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Parties: NovaTech Innovations Pte. Ltd. (Singapore) AND Atlantic Digital Ventures LLC (Delaware)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Effective Date: March 1, 2026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Agreement Reference: JV-NT-ADV-2026-001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Governing Law: State of Delaware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This agreement sets out the terms of a 50/50 joint venture for the development and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commercialisation of AI-accelerated enterprise software in the Asia-Pacific and North American markets.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l">
              <a:defRPr b="1" sz="2200">
                <a:solidFill>
                  <a:srgbClr val="FFFFFF"/>
                </a:solidFill>
              </a:defRPr>
            </a:pPr>
            <a:r>
              <a:t>SECTION 1 — CAPITAL CONTRIBUTION CLAUSE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1.1  Initial Capital Contributions: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NovaTech Innovations Pte. Ltd. (Singapore): USD 8,000,000 cash + IP licensing rights valued at USD 4,000,000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Atlantic Digital Ventures LLC (Delaware): USD 10,000,000 cash + U.S. market distribution network valued at USD 2,000,000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1.2  Ownership Split:  NovaTech — 50% | Atlantic Digital — 50%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1.3  Additional Capital Calls: Either partner may propose a capital call by written notice.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Non-contributing partner's share diluted at the ratio of (existing capital / total post-call capital) × 100.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1.4  Working Capital Reserve: Joint Venture shall maintain a minimum cash reserve equal to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3 months of projected operating expenses at all times.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1.5  Capital Accounts: Each partner's capital account shall be maintained per U.S. GAAP.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Capital accounts adjusted annually for profit/loss allocations and any distributions taken.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Reference: JV-NT-ADV-2026-001 | Capital Table recorded in Schedule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l">
              <a:defRPr b="1" sz="2200">
                <a:solidFill>
                  <a:srgbClr val="FFFFFF"/>
                </a:solidFill>
              </a:defRPr>
            </a:pPr>
            <a:r>
              <a:t>SECTION 2 — PROFIT AND LOSS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2.1  Profit Distribution:  Net profits shall be distributed in proportion to ownership interests: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NovaTech — 50% | Atlantic Digital — 50%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2.2  Distribution Frequency: Distributions shall be made quarterly within 30 days of each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quarter-end, subject to the working capital reserve requirement of Section 1.4.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2.3  Loss Allocation: Net losses are allocated in the same 50/50 proportion.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Partners may be required to make additional capital contributions to cover losses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that exceed existing capital account balances.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2.4  Preferred Return: NovaTech receives a 6% cumulative preferred return on its IP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contribution (USD 4,000,000) before general profit sharing commences in Year 1.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2.5  Reinvestment Policy: At least 20% of annual net profit shall be retained within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the Joint Venture for R&amp;D investment, unless both partners agree otherwise.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2.6  Audit Rights: Each partner may request an independent audit of JV financials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once per fiscal year at the requesting partner's expense.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l">
              <a:defRPr b="1" sz="2200">
                <a:solidFill>
                  <a:srgbClr val="FFFFFF"/>
                </a:solidFill>
              </a:defRPr>
            </a:pPr>
            <a:r>
              <a:t>SECTION 3 — GOVERNANCE AND VOTING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3.1  Board of Directors: The Joint Venture shall be governed by a Board of 6 Directors: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NovaTech appoints 3 directors | Atlantic Digital appoints 3 directors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3.2  Chairperson: Rotating annually between NovaTech and Atlantic Digital nominees.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First Chairperson: NovaTech appointee for Year 1 (March 2026 – February 2027).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3.3  Ordinary Resolutions: Approved by simple majority (4 of 6 directors).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Includes: operating budget approval, vendor contracts &lt; USD 500,000.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3.4  Supermajority Matters (5 of 6 directors required):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• Annual budget exceeding 15% above prior year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• Capital expenditures exceeding USD 2,000,000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• Entry into new geographic markets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• Incurring debt exceeding USD 5,000,000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3.5  Unanimous Consent Required: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• Amendments to this Agreement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• Transfer of partnership interest to a third party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• Merger, acquisition, or dissolution of the Joint Venture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l">
              <a:defRPr b="1" sz="2200">
                <a:solidFill>
                  <a:srgbClr val="FFFFFF"/>
                </a:solidFill>
              </a:defRPr>
            </a:pPr>
            <a:r>
              <a:t>SECTION 4 — DISSOLUTION AND EXIT CLAUSE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4.1  Voluntary Dissolution: Either partner may propose dissolution by providing 180 days'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written notice. The Board must approve dissolution by unanimous consent.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4.2  Winding Up Procedure: Upon dissolution, the Joint Venture shall: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(a) Continue ordinary operations to complete pending contracts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(b) Liquidate assets at fair market value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(c) Pay all creditors and third-party obligations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(d) Return capital contributions (adjusted for losses) to partners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(e) Distribute remaining assets 50/50 per ownership interests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4.3  Buy-Out Option: Prior to dissolution, either partner may offer to purchase the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other's interest at fair market value (independent valuation required). The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non-initiating partner has 90 days to accept, decline, or counter-offer.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4.4  Termination Events: Automatic dissolution triggered by: insolvency of either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partner, unanimous board resolution, or expiry of the 10-year initial term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(extendable by 5-year increments with unanimous consent).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4.5  IP Reversion: Upon dissolution, all jointly developed IP vests equally.</a:t>
            </a:r>
          </a:p>
          <a:p>
            <a:pPr lvl="1">
              <a:defRPr sz="1100">
                <a:solidFill>
                  <a:srgbClr val="1A1A1A"/>
                </a:solidFill>
              </a:defRPr>
            </a:pPr>
            <a:r>
              <a:t>   NovaTech's licensed IP reverts to NovaTech.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</p:spPr>
        <p:txBody>
          <a:bodyPr wrap="square">
            <a:spAutoFit/>
          </a:bodyPr>
          <a:lstStyle/>
          <a:p>
            <a:pPr algn="l">
              <a:defRPr b="1" sz="2200">
                <a:solidFill>
                  <a:srgbClr val="FFFFFF"/>
                </a:solidFill>
              </a:defRPr>
            </a:pPr>
            <a:r>
              <a:t>EXECUTION — SIGNATURES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</a:defRPr>
            </a:pPr>
            <a:r>
              <a:t>This Joint Venture Partnership Agreement has been duly executed by the authorised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representatives of each party as of March 1, 2026.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NOVATECH INNOVATIONS PTE. LTD.             ATLANTIC DIGITAL VENTURES LLC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By: _________________________               By: _________________________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Name: Dr. Wei Liang Chen                    Name: Michael T. O'Brien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Title: Chief Executive Officer              Title: Managing Partner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Date: March 1, 2026                        Date: March 1, 2026</a:t>
            </a:r>
          </a:p>
          <a:p>
            <a:pPr>
              <a:defRPr sz="1100">
                <a:solidFill>
                  <a:srgbClr val="1A1A1A"/>
                </a:solidFill>
              </a:defRPr>
            </a:pP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Agreement Reference: JV-NT-ADV-2026-001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Governing Law: State of Delaware</a:t>
            </a:r>
          </a:p>
          <a:p>
            <a:pPr>
              <a:defRPr sz="1100">
                <a:solidFill>
                  <a:srgbClr val="1A1A1A"/>
                </a:solidFill>
              </a:defRPr>
            </a:pPr>
            <a:r>
              <a:t>Arbitration: SIAC (Singapore International Arbitration Centre)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